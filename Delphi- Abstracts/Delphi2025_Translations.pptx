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EEF3FF"/>
                </a:solidFill>
                <a:latin typeface="Segoe UI"/>
              </a:rPr>
              <a:t>Intralingual &amp; Interlingual Translations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Nikolaos Lavidas et al. • 75 min • 40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lossa-contac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"/>
            <a:ext cx="822960" cy="822960"/>
          </a:xfrm>
          <a:prstGeom prst="rect">
            <a:avLst/>
          </a:prstGeom>
        </p:spPr>
      </p:pic>
      <p:pic>
        <p:nvPicPr>
          <p:cNvPr id="7" name="Picture 6" descr="HFRI_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37160"/>
            <a:ext cx="1783080" cy="822960"/>
          </a:xfrm>
          <a:prstGeom prst="rect">
            <a:avLst/>
          </a:prstGeom>
        </p:spPr>
      </p:pic>
      <p:pic>
        <p:nvPicPr>
          <p:cNvPr id="8" name="Picture 7" descr="Uo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"/>
            <a:ext cx="1269347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Session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Foundations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Intralingual lenses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Interlingual contrasts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Integration + labs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Translations as laboratories for change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Capture both rapid and gradual shifts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Bridge philology and NLP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Key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Do intra/inter contact trigger distinct syntactic effects?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How do genre + prestige mediate change?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Which corpora scale best?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Corpus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Original canonical works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Passive vs active retranslations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Parallel alignment per 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Method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PROIEL dependency schema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Stanza NLP integration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Graph-based text family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AthDGC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Data ingestion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Annotation + QA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Visualization &amp; release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Lavidas Legacy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Timeline of prior findings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Key publications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Open questions carried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Defining Intra vs Inter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Intralingual = historical varieties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Interlingual = cross-language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AthDGC traces inter- and intralingual contact via translation chains, leveraging PROIEL dependency annotation and contrastive parsing across three millennia.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Intralingual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Registers, dialects, standards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Retranslation chains as data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Passive vs active motivations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Case: Byzantine Paraphrases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Periphrasis tracking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Shift in valency patterns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Question: continuity or innovation?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Case: Modern Greek Liturgical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Register leveling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Lexical modernization cues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Sociolinguistic drivers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Quant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Frequency deltas for constructions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Argument structure variation charts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Visualization per century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Qual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Semantic bleaching traces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Calque avoidance narratives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Role of scribal norms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Impact on Valency Lexica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New senses triggered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Frame-synset alignment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Feedback to lexicon builders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Pedagogical Tie-ins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Teaching historical Greek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Translators' craft workshops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Community annotation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Reflection Poll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Which intralingual dataset should expand first?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Prompt QR live poll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Discuss in pairs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Summarize intralingual takeaways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Flag open data requests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Transition to interlingual focus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Interlingual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Hebrew ↔ Greek ↔ Latin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Romance &amp; English receptions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Missionary + scholarly channels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Historical Translation Movements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Septuagint to Vulgate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Renaissance humanist editions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Modern vernacular drives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Hebrew→Greek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Septuagint calques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Case marking reshaping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Prepositional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Latin→Greek Dialogues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Late Antique borrowings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Passive participle shifts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Prestige pressure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Romance &amp; English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Modern missionary corpora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Semantic field expansion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Orthographic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Genre Sensitivity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Legal vs liturgical vs narrative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Translation brief matters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Stability vs experimentation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Syntactic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Argument realization changes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Clause chaining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Periphrasis adoption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Sociolinguistic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Authority of source text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Community reception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Censorship + orthodoxy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Visualization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Network of source-target nodes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Color by language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Edge weight = retranslation density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Comparative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Intralingual vs interlingual metrics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Stability index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Change acceleration ratio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Audience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Where do you expect faster change?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Vote live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Collect rationales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Translation as change accelerant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Detect decelerators (standardization)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Predict hotspots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Tooling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Graph-based explorer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Query syntax screenshot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Export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Alignment noise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Metadata gaps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Interpretive disagreements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Community QA days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Metadata templates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Contextual glossaries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Hands-on Lab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Allocate teams to specific translation chains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Define quick wins for intralingual vs interlingual tasks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Schedule report-outs for Saturday tech block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Lavidas et al.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Contrastive parsing across three millennia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PROIEL tracks adaptation to Hebrew/Latin/Romance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Statistical analysis separates rapid vs gradual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ARCAS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Shared infrastructure Harvard CHS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Classical philology + computational methods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Joint annotation frameworks benefit community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Future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Open treebanks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Comparative datasets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Training parsers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Collaboration Invites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Bring corpora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Share scripts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Mentor students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Discussion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Which translation chain to prioritize?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How to handle contested editions?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What tooling is missing?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EF3FF"/>
                </a:solidFill>
                <a:latin typeface="Segoe UI"/>
              </a:rPr>
              <a:t>Closing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2D6E4"/>
                </a:solidFill>
                <a:latin typeface="Segoe UI"/>
              </a:rPr>
              <a:t>Thanks + contact links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QR to shared folder</a:t>
            </a:r>
          </a:p>
          <a:p>
            <a:r>
              <a:rPr sz="2200">
                <a:solidFill>
                  <a:srgbClr val="D2D6E4"/>
                </a:solidFill>
                <a:latin typeface="Segoe UI"/>
              </a:rPr>
              <a:t>Next session preview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61C29"/>
          </a:solidFill>
          <a:ln>
            <a:solidFill>
              <a:srgbClr val="A61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38C3E"/>
          </a:solidFill>
          <a:ln>
            <a:solidFill>
              <a:srgbClr val="C38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